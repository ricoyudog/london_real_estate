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58e01438c46e0" /><Relationship Type="http://schemas.openxmlformats.org/officeDocument/2006/relationships/extended-properties" Target="/docProps/app.xml" Id="Rd7ad8442135949ab" /><Relationship Type="http://schemas.openxmlformats.org/officeDocument/2006/relationships/officeDocument" Target="/ppt/presentation.xml" Id="R01469922c92e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733f396e24016"/>
  </p:sldMasterIdLst>
  <p:notesMasterIdLst>
    <p:notesMasterId xmlns:r="http://schemas.openxmlformats.org/officeDocument/2006/relationships" r:id="Ra66eedae46954dfa"/>
  </p:notesMasterIdLst>
  <p:sldIdLst>
    <p:sldId xmlns:r="http://schemas.openxmlformats.org/officeDocument/2006/relationships" id="256" r:id="Rf9f97dd1e6c24124"/>
    <p:sldId xmlns:r="http://schemas.openxmlformats.org/officeDocument/2006/relationships" id="257" r:id="Rf27871beed3b4799"/>
    <p:sldId xmlns:r="http://schemas.openxmlformats.org/officeDocument/2006/relationships" id="258" r:id="R0bc7e5017c9f4b50"/>
    <p:sldId xmlns:r="http://schemas.openxmlformats.org/officeDocument/2006/relationships" id="259" r:id="R3cd4905b763542b1"/>
    <p:sldId xmlns:r="http://schemas.openxmlformats.org/officeDocument/2006/relationships" id="260" r:id="Rc46c49421b244d92"/>
    <p:sldId xmlns:r="http://schemas.openxmlformats.org/officeDocument/2006/relationships" id="261" r:id="Rcea8175e5e6d4e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1913d1b714ae9" /><Relationship Type="http://schemas.openxmlformats.org/officeDocument/2006/relationships/slideMaster" Target="/ppt/slideMasters/slideMaster1.xml" Id="R138733f396e24016" /><Relationship Type="http://schemas.openxmlformats.org/officeDocument/2006/relationships/notesMaster" Target="/ppt/notesMasters/notesMaster1.xml" Id="Ra66eedae46954dfa" /><Relationship Type="http://schemas.openxmlformats.org/officeDocument/2006/relationships/presProps" Target="/ppt/presProps.xml" Id="Re88576026cb54709" /><Relationship Type="http://schemas.openxmlformats.org/officeDocument/2006/relationships/tableStyles" Target="/ppt/tableStyles.xml" Id="R668b7d85f8d64dee" /><Relationship Type="http://schemas.openxmlformats.org/officeDocument/2006/relationships/slide" Target="/ppt/slides/slide1.xml" Id="Rf9f97dd1e6c24124" /><Relationship Type="http://schemas.openxmlformats.org/officeDocument/2006/relationships/slide" Target="/ppt/slides/slide2.xml" Id="Rf27871beed3b4799" /><Relationship Type="http://schemas.openxmlformats.org/officeDocument/2006/relationships/slide" Target="/ppt/slides/slide3.xml" Id="R0bc7e5017c9f4b50" /><Relationship Type="http://schemas.openxmlformats.org/officeDocument/2006/relationships/slide" Target="/ppt/slides/slide4.xml" Id="R3cd4905b763542b1" /><Relationship Type="http://schemas.openxmlformats.org/officeDocument/2006/relationships/slide" Target="/ppt/slides/slide5.xml" Id="Rc46c49421b244d92" /><Relationship Type="http://schemas.openxmlformats.org/officeDocument/2006/relationships/slide" Target="/ppt/slides/slide6.xml" Id="Rcea8175e5e6d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8dffd990f4f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7edeb1aff84683" /><Relationship Type="http://schemas.openxmlformats.org/officeDocument/2006/relationships/notesMaster" Target="/ppt/notesMasters/notesMaster1.xml" Id="R303f90c1a1b2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cba030ab4c4cd5" /><Relationship Type="http://schemas.openxmlformats.org/officeDocument/2006/relationships/notesMaster" Target="/ppt/notesMasters/notesMaster1.xml" Id="Rcfd29f8e548f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91f8a2e0004b14" /><Relationship Type="http://schemas.openxmlformats.org/officeDocument/2006/relationships/notesMaster" Target="/ppt/notesMasters/notesMaster1.xml" Id="Reacef27ef19346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4ea591c01a4866" /><Relationship Type="http://schemas.openxmlformats.org/officeDocument/2006/relationships/notesMaster" Target="/ppt/notesMasters/notesMaster1.xml" Id="R299f7dc9889b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0f329140e4fcf" /><Relationship Type="http://schemas.openxmlformats.org/officeDocument/2006/relationships/notesMaster" Target="/ppt/notesMasters/notesMaster1.xml" Id="R3627aaf48f25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d68d325504014" /><Relationship Type="http://schemas.openxmlformats.org/officeDocument/2006/relationships/notesMaster" Target="/ppt/notesMasters/notesMaster1.xml" Id="R2715d3f037e1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開場：這是可驗證的市場研究 PoC，而不是泛用聊天機器人。今天的正式 numeric launch scope 只有 UK Bank Rate。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wiki/research/chatbot-dashboard-decision.md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重點是 authority boundary：模型只透過 typed Facade 讀取 canonical data；沒有 SQL、shell、filesystem、collector 或 raw evidence tool。Linux Docker 僅服務讀取 runtime，ingestion 留在 macOS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docs/first-use-and-data-pipeline.md</a:t>
            </a:r>
          </a:p>
          <a:p xmlns:a="http://schemas.openxmlformats.org/drawingml/2006/main">
            <a:r>
              <a:t>- wiki/questions/Test_result/TC-01-runtime-live-test-2026-08-02.md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不要把工程 workflow 或 discovery data 說成產品 coverage。TC-01 對 Prime office rent 的正確行為是 unavailable，不是生成租金 KPI。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docs/first-use-and-data-pipeline.md</a:t>
            </a:r>
          </a:p>
          <a:p xmlns:a="http://schemas.openxmlformats.org/drawingml/2006/main">
            <a:r>
              <a:t>- wiki/questions/Test_result/TC-01-runtime-live-test-2026-08-02.md</a:t>
            </a:r>
          </a:p>
          <a:p xmlns:a="http://schemas.openxmlformats.org/drawingml/2006/main">
            <a:r>
              <a:t>- wiki/questions/Test_result/TC-01-dashboard-ui-test-2026-08-02.md</a:t>
            </a:r>
          </a:p>
          <a:p xmlns:a="http://schemas.openxmlformats.org/drawingml/2006/main">
            <a:r>
              <a:t>
[Sources]
- wiki/research/datasource/01-office-rent.md through 13-submarket-geography.md (13 category/source mappings)
- src/nan_fung/datasources/catalog.py (operational, blocked, manual_review and legacy_adapter states)
- docs/datasource-acceptance.md (product-coverage gates and TC-01 reason)
- agent-runtime/README.md; agent-runtime/src/server.ts; agent-runtime/skills.manifest.json (Bank Rate-only production allowlist and preloaded skills)
- skills/*/SKILL.md (research runbooks shown in the Tool / Skill column)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runtime test 的 Bank Rate chain 已實際走過 describe、query、citation metadata 與 finalize；TC-01 中文題則完成 unavailable brief 且 facts 與 sources 均為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wiki/questions/Test_result/TC-01-runtime-live-test-2026-08-02.md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這是實際 browser screenshot。可見 Bank Rate fixture、資料來源與 4 個 unavailable market coverage cards。5.25 percent 是隔離 fixture，只用於 UI to Facade to SQLite chain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wiki/questions/Test_result/TC-01-dashboard-ui-test-2026-08-02.md</a:t>
            </a:r>
          </a:p>
          <a:p xmlns:a="http://schemas.openxmlformats.org/drawingml/2006/main">
            <a:r>
              <a:t>- wiki/questions/Test_result/screenshots/dashboard-overview-bank-rate.png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此頁展示 TC-01 真實對話：倫敦金融城本季 Prime office rent 的回答是 unavailable，並無 facts 或 sources。下一步是先建立有 evidence 與 freshness contract 的 canonical sources，再升級產品 coverage。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wiki/questions/Test_result/TC-01-dashboard-ui-test-2026-08-02.md</a:t>
            </a:r>
          </a:p>
          <a:p xmlns:a="http://schemas.openxmlformats.org/drawingml/2006/main">
            <a:r>
              <a:t>- wiki/questions/Test_result/screenshots/dashboard-tc01-unavailable.png</a:t>
            </a:r>
          </a:p>
          <a:p xmlns:a="http://schemas.openxmlformats.org/drawingml/2006/main">
            <a:r>
              <a:t>- docs/first-use-and-data-pipeline.md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5544d89e846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1bbbe06a334de5" /><Relationship Type="http://schemas.openxmlformats.org/officeDocument/2006/relationships/slideLayout" Target="/ppt/slideLayouts/slideLayout1.xml" Id="R8811c259cc5e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11c259cc5e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b3f5543d24cb2" /><Relationship Type="http://schemas.openxmlformats.org/officeDocument/2006/relationships/notesSlide" Target="/ppt/notesSlides/notesSlide1.xml" Id="Rda32a4c082a0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efc083224b8d" /><Relationship Type="http://schemas.openxmlformats.org/officeDocument/2006/relationships/notesSlide" Target="/ppt/notesSlides/notesSlide2.xml" Id="Rfd50dec751da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8c0790ae24824" /><Relationship Type="http://schemas.openxmlformats.org/officeDocument/2006/relationships/notesSlide" Target="/ppt/notesSlides/notesSlide3.xml" Id="R14654b03cdbb41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36c0805214ef8" /><Relationship Type="http://schemas.openxmlformats.org/officeDocument/2006/relationships/notesSlide" Target="/ppt/notesSlides/notesSlide4.xml" Id="R71b716904c4c4f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914511b4142ce" /><Relationship Type="http://schemas.openxmlformats.org/officeDocument/2006/relationships/image" Target="/ppt/media/image.png" Id="Rb0e2356685694e9f" /><Relationship Type="http://schemas.openxmlformats.org/officeDocument/2006/relationships/notesSlide" Target="/ppt/notesSlides/notesSlide5.xml" Id="R2ee1fb73ec1a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0bd350d54699" /><Relationship Type="http://schemas.openxmlformats.org/officeDocument/2006/relationships/image" Target="/ppt/media/image2.png" Id="Rce18a0fe39e54dfe" /><Relationship Type="http://schemas.openxmlformats.org/officeDocument/2006/relationships/notesSlide" Target="/ppt/notesSlides/notesSlide6.xml" Id="R2ee5737959f24e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7C2B3-6E9D-46F5-9B0E-4F9CFD6B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04040"/>
                </a:solidFill>
              </a:defRPr>
            </a:pPr>
            <a:r>
              <a:rPr sz="1500" b="1">
                <a:solidFill>
                  <a:srgbClr val="404040"/>
                </a:solidFill>
              </a:rPr>
              <a:t>PRODUCT DEMO · 2026.08.02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9E2B5-48A4-4B30-856A-404E500A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</a:defRPr>
            </a:pPr>
            <a:r>
              <a:rPr sz="6150" b="1">
                <a:solidFill>
                  <a:srgbClr val="000000"/>
                </a:solidFill>
              </a:rPr>
              <a:t>London Market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</a:defRPr>
            </a:pPr>
            <a:r>
              <a:rPr sz="6150" b="1">
                <a:solidFill>
                  <a:srgbClr val="000000"/>
                </a:solidFill>
              </a:rPr>
              <a:t>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D3D0-C7F6-4D7B-B5CD-32AFB67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04040"/>
                </a:solidFill>
              </a:defRPr>
            </a:pPr>
            <a:r>
              <a:rPr sz="2250" b="0">
                <a:solidFill>
                  <a:srgbClr val="404040"/>
                </a:solidFill>
              </a:rPr>
              <a:t>Evidence-first agent for London office research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404040"/>
                </a:solidFill>
              </a:defRPr>
            </a:pPr>
            <a:r>
              <a:rPr sz="2250" b="0">
                <a:solidFill>
                  <a:srgbClr val="404040"/>
                </a:solidFill>
              </a:rPr>
              <a:t>正式數值 coverage：UK Bank Rate</a:t>
            </a:r>
          </a:p>
        </p:txBody>
      </p:sp>
    </p:spTree>
    <p:extLst>
      <p:ext uri="{BB962C8B-B14F-4D97-AF65-F5344CB8AC3E}">
        <p14:creationId xmlns:p14="http://schemas.microsoft.com/office/powerpoint/2010/main" val="8568571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23F02-1685-467F-B751-1F1D1DE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對話只能走受控的路徑，不能直接碰資料庫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D871-BCAF-47E6-93CC-6730A2BC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04040"/>
                </a:solidFill>
              </a:defRPr>
            </a:pPr>
            <a:r>
              <a:rPr sz="1050" b="0">
                <a:solidFill>
                  <a:srgbClr val="40404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B53D8-505F-4B7C-9DCF-52779618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8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1BFB5-6280-429E-B2D3-040F4F6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93726-13B2-4750-BDD6-EEC94EB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01 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E0073-83D1-4497-8150-0C214B6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同源 Dashboard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Bearer session + SSE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只顯示 host-finalized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FCFC-F3F8-4A12-B43C-104F7D7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C9E08-4147-439C-B5A0-0CF2749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02  Agent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51558-9771-4D9D-8B8E-4B9DF539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Pi AgentSession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6 個受控 tools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日期未指定 → latest canonical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8CB8C-0320-4223-AA0B-138A021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67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73226-2D92-4FA6-B775-C071559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03  Trusted data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1FD9B-89CF-4729-B213-95F4140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Facade → SQLite + evidence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read-only model surface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macOS host 執行 ingestion</a:t>
            </a:r>
          </a:p>
        </p:txBody>
      </p:sp>
    </p:spTree>
    <p:extLst>
      <p:ext uri="{BB962C8B-B14F-4D97-AF65-F5344CB8AC3E}">
        <p14:creationId xmlns:p14="http://schemas.microsoft.com/office/powerpoint/2010/main" val="14432375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6F6D0-42CF-4750-A515-1792EB78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13 種資料來源的 Tool、Skill 與 Availability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B113C-D0B9-420A-ABA4-5F74745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04040"/>
                </a:solidFill>
              </a:defRPr>
            </a:pPr>
            <a:r>
              <a:rPr sz="1050" b="0">
                <a:solidFill>
                  <a:srgbClr val="40404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EA525-7332-4C5B-B819-757C2666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04040"/>
                </a:solidFill>
              </a:defRPr>
            </a:pPr>
            <a:r>
              <a:rPr sz="1800" b="0">
                <a:solidFill>
                  <a:srgbClr val="404040"/>
                </a:solidFill>
              </a:rPr>
              <a:t>中欄是 data-plane function / research Skill；只有 Bank Rate 已在 production Pi runtime 開放。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82375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43150"/>
                <a:gridCol w="3857625"/>
                <a:gridCol w="5181600"/>
              </a:tblGrid>
              <a:tr h="304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 source (13)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Tool / Skill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Availability / why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01 Office rent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BNP report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fetch_public_market_report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collect-office-market-metrics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Unavailable · manual review / restricted retention; no City Prime canonical series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02 Stock / availability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VOA + BNP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fetch_voa_office_stock + report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collect-office-market-metrics · track-office-supply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7A3D00"/>
                          </a:solidFill>
                          <a:latin typeface="Calibri"/>
                          <a:ea typeface="Calibri"/>
                          <a:cs typeface="Calibri"/>
                        </a:rPr>
                        <a:t>Partial · VOA stock operational; BNP vacancy / availability remains manual review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03 Leasing transactions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BNP report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fetch_public_market_report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collect-office-market-metrics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Unavailable · report-derived evidence only; no canonical transaction series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04 Supply pipeline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PLD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search_planning_applications + fetch_planning_application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track-office-supply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Unavailable · PLD licence + retention approval pending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05 Rates / MPC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Bank of England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describe → query → citation → finalizer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track-uk-macro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Available · Bank Rate only; MPC RSS discovery-only / content approval 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06 GDP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ONS v1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fetch_uk_gdp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track-uk-macro (not runtime-exposed)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Data plane operational · not in production runtime allowlist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07 Inflation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ONS v1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fetch_uk_inflation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track-uk-macro (not runtime-exposed)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Data plane operational · not in production runtime allowlist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08 Employment market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ONS + Nomis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fetch_uk_labour_market + fetch_london_labour_market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track-uk-macro (not runtime-exposed)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Data plane operational · not in production runtime allowlist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09 Office demand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Rightmove tracker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No scraper; browser review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assess-office-demand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Unavailable · manual reading only; enquiry signal is a 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10 Hybrid working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ONS OPN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fetch_hybrid_working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assess-office-demand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Data plane operational proxy · not in production runtime allowlist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11 ESG / energy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MHCLG EPC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fetch_non_domestic_epc_ratings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check-office-esg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56082"/>
                          </a:solidFill>
                          <a:latin typeface="Calibri"/>
                          <a:ea typeface="Calibri"/>
                          <a:cs typeface="Calibri"/>
                        </a:rPr>
                        <a:t>Data plane operational proxy · not in production runtime allowlist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12 Market news / events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GOV.UK + MPC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search_market_news + fetch_content_item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monitor-market-news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Unavailable · GOV.UK review/access unapproved; MPC not canonical</a:t>
                      </a:r>
                    </a:p>
                  </a:txBody>
                  <a:tcPr marL="91440" marR="91440" marT="45720" marB="4572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13 Submarket geography</a:t>
                      </a:r>
                    </a:p>
                    <a:p>
                      <a:r>
                        <a:rPr sz="863" b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ONSPD + GLA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lookup_postcode + query_town_centres</a:t>
                      </a:r>
                    </a:p>
                    <a:p>
                      <a:r>
                        <a:rPr sz="863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map-london-submarkets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7A3D00"/>
                          </a:solidFill>
                          <a:latin typeface="Calibri"/>
                          <a:ea typeface="Calibri"/>
                          <a:cs typeface="Calibri"/>
                        </a:rPr>
                        <a:t>Partial · ONSPD is retention-gated/on-demand; GLA approval pending; no broker polygon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057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BC6FD-C04F-4382-96CC-0C2ED50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模型只能用可驗證的工具與證據作答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D534D-29C6-4B1F-93EA-CCCAE00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04040"/>
                </a:solidFill>
              </a:defRPr>
            </a:pPr>
            <a:r>
              <a:rPr sz="1050" b="0">
                <a:solidFill>
                  <a:srgbClr val="40404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44806-D1C1-49E3-9D11-FEF04FF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04040"/>
                </a:solidFill>
              </a:defRPr>
            </a:pPr>
            <a:r>
              <a:rPr sz="1800" b="0">
                <a:solidFill>
                  <a:srgbClr val="404040"/>
                </a:solidFill>
              </a:rPr>
              <a:t>真實 GLM + Pi + Python Facade + SQLite 已完成 live E2E；host finalizer 是市場事實回覆的最後 gate。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1E754-35D0-4B6C-A1B9-720962A1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E07C-B48F-46BD-ACF7-31C7E6F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Host finalizer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DB578-DE25-4404-8001-DC665C39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04040"/>
                </a:solidFill>
              </a:defRPr>
            </a:pPr>
            <a:r>
              <a:rPr sz="1725" b="0">
                <a:solidFill>
                  <a:srgbClr val="404040"/>
                </a:solidFill>
              </a:rPr>
              <a:t>拒絕不支援的數字與 citation；完成後終止 tool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9A6D7-8A58-4F94-8735-AA69D0F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05125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2A2A-8141-4E3B-95CB-F8CA12BB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Scoped handles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F9062-C7CD-4C7A-B1E7-496D7D36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767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04040"/>
                </a:solidFill>
              </a:defRPr>
            </a:pPr>
            <a:r>
              <a:rPr sz="1725" b="0">
                <a:solidFill>
                  <a:srgbClr val="404040"/>
                </a:solidFill>
              </a:rPr>
              <a:t>模型只看短 alias；簽名 handle 保留在 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961F0-BDD2-445F-BAF0-0A917F00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5125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17B1B-60F0-487F-AA46-D2A982F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81375"/>
            <a:ext cx="299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TC-01: 0 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804D0-86BC-48D1-A03E-DB6E07D8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04040"/>
                </a:solidFill>
              </a:defRPr>
            </a:pPr>
            <a:r>
              <a:rPr sz="1725" b="0">
                <a:solidFill>
                  <a:srgbClr val="404040"/>
                </a:solidFill>
              </a:rPr>
              <a:t>Prime rent 無 coverage 時，回 unavailable、不杜撰</a:t>
            </a:r>
          </a:p>
        </p:txBody>
      </p:sp>
    </p:spTree>
    <p:extLst>
      <p:ext uri="{BB962C8B-B14F-4D97-AF65-F5344CB8AC3E}">
        <p14:creationId xmlns:p14="http://schemas.microsoft.com/office/powerpoint/2010/main" val="1704814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E1A84-D448-4E7A-A2C6-4CE20242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Dashboard 把 Bank Rate 與 coverage 狀態放在同一頁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3B344-5999-46A7-B8AC-9B5D1E94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04040"/>
                </a:solidFill>
              </a:defRPr>
            </a:pPr>
            <a:r>
              <a:rPr sz="1050" b="0">
                <a:solidFill>
                  <a:srgbClr val="40404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DA74A-3379-4419-8E98-CEF17315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實際 browser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7E1CA-3A71-4D77-8F3D-CEF0441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04040"/>
                </a:solidFill>
              </a:defRPr>
            </a:pPr>
            <a:r>
              <a:rPr sz="2175" b="0">
                <a:solidFill>
                  <a:srgbClr val="404040"/>
                </a:solidFill>
              </a:rPr>
              <a:t>同源 session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404040"/>
                </a:solidFill>
              </a:defRPr>
            </a:pPr>
            <a:r>
              <a:rPr sz="2175" b="0">
                <a:solidFill>
                  <a:srgbClr val="404040"/>
                </a:solidFill>
              </a:rPr>
              <a:t>受控 overview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404040"/>
                </a:solidFill>
              </a:defRPr>
            </a:pPr>
            <a:r>
              <a:rPr sz="2175" b="0">
                <a:solidFill>
                  <a:srgbClr val="404040"/>
                </a:solidFill>
              </a:rPr>
              <a:t>4 個 London cards 均為 unavailable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A5AA-680F-4F1D-A062-CCC487E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51AE2-DE80-4A4A-8B05-E73DD62F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5.25% 是 temporary fixture，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04040"/>
                </a:solidFill>
              </a:defRPr>
            </a:pPr>
            <a:r>
              <a:rPr sz="1875" b="0">
                <a:solidFill>
                  <a:srgbClr val="404040"/>
                </a:solidFill>
              </a:rPr>
              <a:t>不是即時市場數值。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AA09B-994A-4DE1-BE6C-D13622E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5905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2356685694e9f"/>
          <a:srcRect xmlns:a="http://schemas.openxmlformats.org/drawingml/2006/main" l="0" t="31741" r="0" b="31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762125"/>
            <a:ext cx="5905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</p:spTree>
    <p:extLst>
      <p:ext uri="{BB962C8B-B14F-4D97-AF65-F5344CB8AC3E}">
        <p14:creationId xmlns:p14="http://schemas.microsoft.com/office/powerpoint/2010/main" val="16909110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6103C-D2B3-46A9-852C-5799378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TC-01 無資料時回 unavailable；下一步補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74BC3-18B1-48A3-B92A-194DCA6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04040"/>
                </a:solidFill>
              </a:defRPr>
            </a:pPr>
            <a:r>
              <a:rPr sz="1050" b="0">
                <a:solidFill>
                  <a:srgbClr val="40404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FC093-D641-4F3E-9891-A77550A6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8a0fe39e54dfe"/>
          <a:srcRect xmlns:a="http://schemas.openxmlformats.org/drawingml/2006/main" l="0" t="27708" r="0" b="27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9545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5A026-D7F8-46AE-B67B-C23ADF0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4EE4F-FD12-4131-B73E-8C7B9E5B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TC-01 中文原題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facts = 0 · sources hidden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2F3D-63CA-4DB3-8A28-AC9735B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80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B1BF2-8A84-43EA-8D4B-5ACBECB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BBB2D-9160-48E2-A35C-99F11AA7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04040"/>
                </a:solidFill>
              </a:defRPr>
            </a:pPr>
            <a:r>
              <a:rPr sz="1500" b="0">
                <a:solidFill>
                  <a:srgbClr val="404040"/>
                </a:solidFill>
              </a:rPr>
              <a:t>Prime rent：canonical source + evidence + freshness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B4890-4916-4B86-A5E1-338DF0B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CD00B-DDE8-46B6-B107-D22D858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4FEEF-0C4F-4753-A9A9-2211AF0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04040"/>
                </a:solidFill>
              </a:defRPr>
            </a:pPr>
            <a:r>
              <a:rPr sz="1500" b="0">
                <a:solidFill>
                  <a:srgbClr val="404040"/>
                </a:solidFill>
              </a:rPr>
              <a:t>Vacancy / transactions：approved workflow，再 promotion 到 product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21F74-5F2E-4E0F-960B-A40404CC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D20BC-335B-48A6-983D-C169474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72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FFA91-C453-4F19-88C8-B5E9B9A3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04040"/>
                </a:solidFill>
              </a:defRPr>
            </a:pPr>
            <a:r>
              <a:rPr sz="1500" b="0">
                <a:solidFill>
                  <a:srgbClr val="404040"/>
                </a:solidFill>
              </a:rPr>
              <a:t>Product operations：auth + monitoring，不擴大 tool authority</a:t>
            </a:r>
          </a:p>
        </p:txBody>
      </p:sp>
    </p:spTree>
    <p:extLst>
      <p:ext uri="{BB962C8B-B14F-4D97-AF65-F5344CB8AC3E}">
        <p14:creationId xmlns:p14="http://schemas.microsoft.com/office/powerpoint/2010/main" val="147279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2026-08-02T14:53:15.1090000Z</dcterms:created>
  <dcterms:modified xsi:type="dcterms:W3CDTF">2026-08-02T14:53:15.1090000Z</dcterms:modified>
</coreProperties>
</file>