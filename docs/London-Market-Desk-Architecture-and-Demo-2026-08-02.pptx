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3be3877cf6459a" /><Relationship Type="http://schemas.openxmlformats.org/officeDocument/2006/relationships/extended-properties" Target="/docProps/app.xml" Id="Rd16ac70b5e94466e" /><Relationship Type="http://schemas.openxmlformats.org/officeDocument/2006/relationships/officeDocument" Target="/ppt/presentation.xml" Id="R9d34442d190244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a299d43abb4e6f"/>
  </p:sldMasterIdLst>
  <p:notesMasterIdLst>
    <p:notesMasterId xmlns:r="http://schemas.openxmlformats.org/officeDocument/2006/relationships" r:id="R2471373e5e8c4736"/>
  </p:notesMasterIdLst>
  <p:sldIdLst>
    <p:sldId xmlns:r="http://schemas.openxmlformats.org/officeDocument/2006/relationships" id="256" r:id="Rddec8d7f33d24276"/>
    <p:sldId xmlns:r="http://schemas.openxmlformats.org/officeDocument/2006/relationships" id="257" r:id="R088760b1b8cd49c7"/>
    <p:sldId xmlns:r="http://schemas.openxmlformats.org/officeDocument/2006/relationships" id="258" r:id="R099c71e8801740bd"/>
    <p:sldId xmlns:r="http://schemas.openxmlformats.org/officeDocument/2006/relationships" id="259" r:id="Rd577b4c3adcc45a6"/>
    <p:sldId xmlns:r="http://schemas.openxmlformats.org/officeDocument/2006/relationships" id="260" r:id="R07d2606b0df149d8"/>
    <p:sldId xmlns:r="http://schemas.openxmlformats.org/officeDocument/2006/relationships" id="261" r:id="Rf340ab493bf545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d3645cea0f432f" /><Relationship Type="http://schemas.openxmlformats.org/officeDocument/2006/relationships/slideMaster" Target="/ppt/slideMasters/slideMaster1.xml" Id="Rcca299d43abb4e6f" /><Relationship Type="http://schemas.openxmlformats.org/officeDocument/2006/relationships/notesMaster" Target="/ppt/notesMasters/notesMaster1.xml" Id="R2471373e5e8c4736" /><Relationship Type="http://schemas.openxmlformats.org/officeDocument/2006/relationships/presProps" Target="/ppt/presProps.xml" Id="Ra03d26b6ea284f92" /><Relationship Type="http://schemas.openxmlformats.org/officeDocument/2006/relationships/tableStyles" Target="/ppt/tableStyles.xml" Id="R587acf7084f24da3" /><Relationship Type="http://schemas.openxmlformats.org/officeDocument/2006/relationships/slide" Target="/ppt/slides/slide1.xml" Id="Rddec8d7f33d24276" /><Relationship Type="http://schemas.openxmlformats.org/officeDocument/2006/relationships/slide" Target="/ppt/slides/slide2.xml" Id="R088760b1b8cd49c7" /><Relationship Type="http://schemas.openxmlformats.org/officeDocument/2006/relationships/slide" Target="/ppt/slides/slide3.xml" Id="R099c71e8801740bd" /><Relationship Type="http://schemas.openxmlformats.org/officeDocument/2006/relationships/slide" Target="/ppt/slides/slide4.xml" Id="Rd577b4c3adcc45a6" /><Relationship Type="http://schemas.openxmlformats.org/officeDocument/2006/relationships/slide" Target="/ppt/slides/slide5.xml" Id="R07d2606b0df149d8" /><Relationship Type="http://schemas.openxmlformats.org/officeDocument/2006/relationships/slide" Target="/ppt/slides/slide6.xml" Id="Rf340ab493bf545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897b2bcbf24c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9e8e8c993e4486" /><Relationship Type="http://schemas.openxmlformats.org/officeDocument/2006/relationships/notesMaster" Target="/ppt/notesMasters/notesMaster1.xml" Id="R39cb1a3cff4648c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b1229a74504e41" /><Relationship Type="http://schemas.openxmlformats.org/officeDocument/2006/relationships/notesMaster" Target="/ppt/notesMasters/notesMaster1.xml" Id="R59a75fbae44a49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19e5b914854f30" /><Relationship Type="http://schemas.openxmlformats.org/officeDocument/2006/relationships/notesMaster" Target="/ppt/notesMasters/notesMaster1.xml" Id="R6c08ae69fcd34a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6136f6ad464d4d" /><Relationship Type="http://schemas.openxmlformats.org/officeDocument/2006/relationships/notesMaster" Target="/ppt/notesMasters/notesMaster1.xml" Id="R06db6c46e9d3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6d7f21af9d44d2" /><Relationship Type="http://schemas.openxmlformats.org/officeDocument/2006/relationships/notesMaster" Target="/ppt/notesMasters/notesMaster1.xml" Id="R60e2b7448af44e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d33ae7fc424721" /><Relationship Type="http://schemas.openxmlformats.org/officeDocument/2006/relationships/notesMaster" Target="/ppt/notesMasters/notesMaster1.xml" Id="Re515628986eb43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開場：這是可驗證的市場研究 PoC，而不是泛用聊天機器人。今天的正式 numeric launch scope 只有 UK Bank Rate。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wiki/research/chatbot-dashboard-decision.md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重點是 authority boundary：模型只透過 typed Facade 讀取 canonical data；沒有 SQL、shell、filesystem、collector 或 raw evidence tool。Linux Docker 僅服務讀取 runtime，ingestion 留在 macOS host。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docs/first-use-and-data-pipeline.md</a:t>
            </a:r>
          </a:p>
          <a:p xmlns:a="http://schemas.openxmlformats.org/drawingml/2006/main">
            <a:r>
              <a:t>- wiki/questions/Test_result/TC-01-runtime-live-test-2026-08-02.md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不要把工程 workflow 或 discovery data 說成產品 coverage。TC-01 對 Prime office rent 的正確行為是 unavailable，不是生成租金 KPI。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wiki/research/datasource/01-office-rent.md through 13-submarket-geography.md (13 category/source mappings)</a:t>
            </a:r>
          </a:p>
          <a:p xmlns:a="http://schemas.openxmlformats.org/drawingml/2006/main">
            <a:r>
              <a:t>- src/nan_fung/datasources/catalog.py (operational, blocked, manual_review and legacy_adapter states)</a:t>
            </a:r>
          </a:p>
          <a:p xmlns:a="http://schemas.openxmlformats.org/drawingml/2006/main">
            <a:r>
              <a:t>- docs/datasource-acceptance.md (product-coverage gates and TC-01 reason)</a:t>
            </a:r>
          </a:p>
          <a:p xmlns:a="http://schemas.openxmlformats.org/drawingml/2006/main">
            <a:r>
              <a:t>- agent-runtime/README.md; agent-runtime/src/server.ts; agent-runtime/skills.manifest.json (Bank Rate-only production allowlist and preloaded skills)</a:t>
            </a:r>
          </a:p>
          <a:p xmlns:a="http://schemas.openxmlformats.org/drawingml/2006/main">
            <a:r>
              <a:t>- skills/*/SKILL.md (research runbooks shown in the Tool / Skill column)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本頁四張截圖均來自本 repo 的 Docker Demo，並在瀏覽器實際執行 Pi createAgentSession 與 glm/GLM-5.2。UI 不顯示未驗證的 streaming model prose；聊天區顯示 host-validated 數值與來源，右側只呈現 host-finalized market_brief.v1。Bank Rate 顯示 canonical fixture 5.25 percent、confidence、lineage 與 browser-safe Source 1；West End vacancy 正確顯示 unavailable，沒有生成 vacancy KPI。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agent-runtime/src/boot.ts; agent-runtime/src/turn-runner.ts; agent-runtime/src/server.ts</a:t>
            </a:r>
          </a:p>
          <a:p xmlns:a="http://schemas.openxmlformats.org/drawingml/2006/main">
            <a:r>
              <a:t>- agent-runtime/public/app.js; agent-runtime/public/index.html</a:t>
            </a:r>
          </a:p>
          <a:p xmlns:a="http://schemas.openxmlformats.org/drawingml/2006/main">
            <a:r>
              <a:t>- tests/Test case.md (sanitized Docker browser / Pi / GLM acceptance traces)</a:t>
            </a:r>
          </a:p>
          <a:p xmlns:a="http://schemas.openxmlformats.org/drawingml/2006/main">
            <a:r>
              <a:t>- Local acceptance captures generated from docker compose up --build --wait; no credentials are embedded in the screenshots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這是實際 browser screenshot。可見 Bank Rate fixture、資料來源與 4 個 unavailable market coverage cards。5.25 percent 是隔離 fixture，只用於 UI to Facade to SQLite chain 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wiki/questions/Test_result/TC-01-dashboard-ui-test-2026-08-02.md</a:t>
            </a:r>
          </a:p>
          <a:p xmlns:a="http://schemas.openxmlformats.org/drawingml/2006/main">
            <a:r>
              <a:t>- wiki/questions/Test_result/screenshots/dashboard-overview-bank-rate.png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本頁全是提案中的後續能力，不是目前已交付 scope。news RAG 只應檢索 approved/licensed corpus，並把 ad-hoc evidence 和 canonical market facts 分開；intent routing 先把使用者要求送往資料查詢、refresh、新聞研究或 unavailable；任何新 office source 都要先經 evidence、freshness 和 promotion gate。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wiki/architecture/agent-runtime.md (v1 excludes non-canonical ad-hoc results; production auth and tenant policy are deferred)</a:t>
            </a:r>
          </a:p>
          <a:p xmlns:a="http://schemas.openxmlformats.org/drawingml/2006/main">
            <a:r>
              <a:t>- docs/datasource-acceptance.md (datasource workflow and promotion coverage context)</a:t>
            </a:r>
          </a:p>
          <a:p xmlns:a="http://schemas.openxmlformats.org/drawingml/2006/main">
            <a:r>
              <a:t>- wiki/research/chatbot-dashboard-decision.md (chatbot/dashboard capability direction)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e9c2df58043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ac0f6b4f514541" /><Relationship Type="http://schemas.openxmlformats.org/officeDocument/2006/relationships/slideLayout" Target="/ppt/slideLayouts/slideLayout1.xml" Id="Rd7d40ac81ba846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d40ac81ba846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8caf1ea7c47a1" /><Relationship Type="http://schemas.openxmlformats.org/officeDocument/2006/relationships/notesSlide" Target="/ppt/notesSlides/notesSlide1.xml" Id="Rbb50c48351a746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4c701f36f443b" /><Relationship Type="http://schemas.openxmlformats.org/officeDocument/2006/relationships/notesSlide" Target="/ppt/notesSlides/notesSlide2.xml" Id="R7d9b35e09aac49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1178e8eca4855" /><Relationship Type="http://schemas.openxmlformats.org/officeDocument/2006/relationships/notesSlide" Target="/ppt/notesSlides/notesSlide3.xml" Id="Rcbc570ef6dae45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0f3cd469649c8" /><Relationship Type="http://schemas.openxmlformats.org/officeDocument/2006/relationships/image" Target="/ppt/media/image.png" Id="Re1a4086aae2048cc" /><Relationship Type="http://schemas.openxmlformats.org/officeDocument/2006/relationships/image" Target="/ppt/media/image2.png" Id="R63f8567f4ee346aa" /><Relationship Type="http://schemas.openxmlformats.org/officeDocument/2006/relationships/image" Target="/ppt/media/image3.png" Id="R03cdcbe993f94393" /><Relationship Type="http://schemas.openxmlformats.org/officeDocument/2006/relationships/image" Target="/ppt/media/image4.png" Id="R8ba9df74d8584b04" /><Relationship Type="http://schemas.openxmlformats.org/officeDocument/2006/relationships/notesSlide" Target="/ppt/notesSlides/notesSlide4.xml" Id="R1a7d8b7c02114c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a4c1a97ff34248" /><Relationship Type="http://schemas.openxmlformats.org/officeDocument/2006/relationships/image" Target="/ppt/media/image5.png" Id="Rd16c197282374d72" /><Relationship Type="http://schemas.openxmlformats.org/officeDocument/2006/relationships/notesSlide" Target="/ppt/notesSlides/notesSlide5.xml" Id="R048a8977513148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faa5035f04665" /><Relationship Type="http://schemas.openxmlformats.org/officeDocument/2006/relationships/notesSlide" Target="/ppt/notesSlides/notesSlide6.xml" Id="R6df6fa5f69a349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7C2B3-6E9D-46F5-9B0E-4F9CFD6B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404040"/>
                </a:solidFill>
              </a:defRPr>
            </a:pPr>
            <a:r>
              <a:rPr sz="1500" b="1">
                <a:solidFill>
                  <a:srgbClr val="404040"/>
                </a:solidFill>
              </a:rPr>
              <a:t>PRODUCT DEMO · 2026.08.02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89E2B5-48A4-4B30-856A-404E500A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8096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000000"/>
                </a:solidFill>
              </a:defRPr>
            </a:pPr>
            <a:r>
              <a:rPr sz="6150" b="1">
                <a:solidFill>
                  <a:srgbClr val="000000"/>
                </a:solidFill>
              </a:rPr>
              <a:t>London Market</a:t>
            </a:r>
          </a:p>
          <a:p xmlns:a="http://schemas.openxmlformats.org/drawingml/2006/main">
            <a:pPr algn="l">
              <a:buNone/>
              <a:defRPr sz="6150" b="1">
                <a:solidFill>
                  <a:srgbClr val="000000"/>
                </a:solidFill>
              </a:defRPr>
            </a:pPr>
            <a:r>
              <a:rPr sz="6150" b="1">
                <a:solidFill>
                  <a:srgbClr val="000000"/>
                </a:solidFill>
              </a:rPr>
              <a:t>Desk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2D3D0-C7F6-4D7B-B5CD-32AFB67F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8191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404040"/>
                </a:solidFill>
              </a:defRPr>
            </a:pPr>
            <a:r>
              <a:rPr sz="2250" b="0">
                <a:solidFill>
                  <a:srgbClr val="404040"/>
                </a:solidFill>
              </a:rPr>
              <a:t>Evidence-first agent for London office research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404040"/>
                </a:solidFill>
              </a:defRPr>
            </a:pPr>
            <a:r>
              <a:rPr sz="2250" b="0">
                <a:solidFill>
                  <a:srgbClr val="404040"/>
                </a:solidFill>
              </a:rPr>
              <a:t>正式數值 coverage：UK Bank Rate</a:t>
            </a:r>
          </a:p>
        </p:txBody>
      </p:sp>
    </p:spTree>
    <p:extLst>
      <p:ext uri="{BB962C8B-B14F-4D97-AF65-F5344CB8AC3E}">
        <p14:creationId xmlns:p14="http://schemas.microsoft.com/office/powerpoint/2010/main" val="8568571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23F02-1685-467F-B751-1F1D1DE5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對話只能走受控的路徑，不能直接碰資料庫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1D871-BCAF-47E6-93CC-6730A2BC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AB53D8-505F-4B7C-9DCF-52779618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138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61BFB5-6280-429E-B2D3-040F4F6A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670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793726-13B2-4750-BDD6-EEC94EB5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01  Browser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E0073-83D1-4497-8150-0C214B66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同源 Dashboard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Bearer session + SSE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只顯示 host-finalized brief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7FCFC-F3F8-4A12-B43C-104F7D76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670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C9E08-4147-439C-B5A0-0CF27499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241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02  Agent runtime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251558-9771-4D9D-8B8E-4B9DF539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62375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Pi AgentSession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6 個受控 tools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日期未指定 → latest canonical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68CB8C-0320-4223-AA0B-138A0215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67075"/>
            <a:ext cx="142875" cy="1428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973226-2D92-4FA6-B775-C0715598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241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03  Trusted data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1FD9B-89CF-4729-B213-95F41401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62375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Facade → SQLite + evidence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read-only model surface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macOS host 執行 ingestion</a:t>
            </a:r>
          </a:p>
        </p:txBody>
      </p:sp>
    </p:spTree>
    <p:extLst>
      <p:ext uri="{BB962C8B-B14F-4D97-AF65-F5344CB8AC3E}">
        <p14:creationId xmlns:p14="http://schemas.microsoft.com/office/powerpoint/2010/main" val="144323751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26F6D0-42CF-4750-A515-1792EB78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13 種資料來源的 Tool、Skill 與 Availability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B113C-D0B9-420A-ABA4-5F747454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EA525-7332-4C5B-B819-757C2666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404040"/>
                </a:solidFill>
              </a:defRPr>
            </a:pPr>
            <a:r>
              <a:rPr sz="1800" b="0">
                <a:solidFill>
                  <a:srgbClr val="404040"/>
                </a:solidFill>
              </a:rPr>
              <a:t>中欄是 data-plane function / research Skill；只有 Bank Rate 已在 production Pi runtime 開放。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400050" y="1952625"/>
          <a:ext xmlns:a="http://schemas.openxmlformats.org/drawingml/2006/main" cx="11382375" cy="4267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43150"/>
                <a:gridCol w="3857625"/>
                <a:gridCol w="5181600"/>
              </a:tblGrid>
              <a:tr h="3048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Data source (13)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Tool / Skill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Availability / why</a:t>
                      </a:r>
                    </a:p>
                  </a:txBody>
                  <a:tcPr marL="91440" marR="91440" marT="45720" marB="45720">
                    <a:solidFill>
                      <a:srgbClr val="000000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01 Office rent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BNP report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fetch_public_market_report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collect-office-market-metrics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manual review / restricted retention; no City Prime canonical series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02 Stock / availability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VOA + BNP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fetch_voa_office_stock + report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collect-office-market-metrics · track-office-supply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7A3D00"/>
                          </a:solidFill>
                          <a:latin typeface="Calibri"/>
                          <a:ea typeface="Calibri"/>
                          <a:cs typeface="Calibri"/>
                        </a:rPr>
                        <a:t>Partial · VOA stock operational; BNP vacancy / availability remains manual review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03 Leasing transactions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BNP report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fetch_public_market_report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collect-office-market-metrics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report-derived evidence only; no canonical transaction series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04 Supply pipeline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PLD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search_planning_applications + fetch_planning_application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track-office-supply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PLD licence + retention approval pending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05 Rates / MPC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Bank of England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describe → query → citation → finalizer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Available · Bank Rate only; MPC RSS discovery-only / content approval pending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06 GDP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v1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fetch_uk_gdp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 (not runtime-exposed)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07 Inflation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v1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fetch_uk_inflation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 (not runtime-exposed)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08 Employment market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+ Nomis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fetch_uk_labour_market + fetch_london_labour_market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track-uk-macro (not runtime-exposed)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09 Office demand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Rightmove tracker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No scraper; browser review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assess-office-demand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manual reading only; enquiry signal is a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10 Hybrid working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 OPN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fetch_hybrid_working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assess-office-demand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proxy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11 ESG / energy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MHCLG EPC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fetch_non_domestic_epc_ratings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check-office-esg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156082"/>
                          </a:solidFill>
                          <a:latin typeface="Calibri"/>
                          <a:ea typeface="Calibri"/>
                          <a:cs typeface="Calibri"/>
                        </a:rPr>
                        <a:t>Data plane operational proxy · not in production runtime allowlist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12 Market news / events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GOV.UK + MPC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search_market_news + fetch_content_item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monitor-market-news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Unavailable · GOV.UK review/access unapproved; MPC not canonical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13 Submarket geography</a:t>
                      </a:r>
                    </a:p>
                    <a:p>
                      <a:r>
                        <a:rPr sz="863" b="1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ONSPD + GLA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lookup_postcode + query_town_centres</a:t>
                      </a:r>
                    </a:p>
                    <a:p>
                      <a:r>
                        <a:rPr sz="863" b="0">
                          <a:solidFill>
                            <a:srgbClr val="252525"/>
                          </a:solidFill>
                          <a:latin typeface="Calibri"/>
                          <a:ea typeface="Calibri"/>
                          <a:cs typeface="Calibri"/>
                        </a:rPr>
                        <a:t>map-london-submarkets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 b="0">
                          <a:solidFill>
                            <a:srgbClr val="7A3D00"/>
                          </a:solidFill>
                          <a:latin typeface="Calibri"/>
                          <a:ea typeface="Calibri"/>
                          <a:cs typeface="Calibri"/>
                        </a:rPr>
                        <a:t>Partial · ONSPD is retention-gated/on-demand; GLA approval pending; no broker polygon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9057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7BC6FD-C04F-4382-96CC-0C2ED505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真實 UI 驗收：Pi AgentSession × GLM-5.2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D534D-29C6-4B1F-93EA-CCCAE002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44806-D1C1-49E3-9D11-FEF04FF8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404040"/>
                </a:solidFill>
              </a:defRPr>
            </a:pPr>
            <a:r>
              <a:rPr sz="1800" b="0">
                <a:solidFill>
                  <a:srgbClr val="404040"/>
                </a:solidFill>
              </a:rPr>
              <a:t>Docker fixture disclosure → real GLM turn → host-validated result / lineage → safe unavailable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4086aae2048cc"/>
          <a:srcRect xmlns:a="http://schemas.openxmlformats.org/drawingml/2006/main" l="758" t="0" r="7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924050"/>
            <a:ext cx="5476875" cy="1847850"/>
          </a:xfrm>
          <a:prstGeom xmlns:a="http://schemas.openxmlformats.org/drawingml/2006/main" prst="rect">
            <a:avLst/>
          </a:prstGeom>
        </p:spPr>
      </p:pic>
      <p:sp>
        <p:nvSpPr>
          <p:cNvPr id="15" name="ui-evidence-caption-1">
            <a:extLst xmlns:a="http://schemas.openxmlformats.org/drawingml/2006/main">
              <a:ext uri="{FF2B5EF4-FFF2-40B4-BE49-F238E27FC236}">
                <a16:creationId xmlns:a16="http://schemas.microsoft.com/office/drawing/2014/main" id="{07D9BBDA-3178-4642-A71B-1891A6AD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5476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04040"/>
                </a:solidFill>
              </a:defRPr>
            </a:pPr>
            <a:r>
              <a:rPr sz="1125" b="1">
                <a:solidFill>
                  <a:srgbClr val="404040"/>
                </a:solidFill>
              </a:rPr>
              <a:t>01  Runtime + fixture disclosure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8567f4ee346aa"/>
          <a:srcRect xmlns:a="http://schemas.openxmlformats.org/drawingml/2006/main" l="758" t="0" r="7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5075" y="1924050"/>
            <a:ext cx="5476875" cy="1847850"/>
          </a:xfrm>
          <a:prstGeom xmlns:a="http://schemas.openxmlformats.org/drawingml/2006/main" prst="rect">
            <a:avLst/>
          </a:prstGeom>
        </p:spPr>
      </p:pic>
      <p:sp>
        <p:nvSpPr>
          <p:cNvPr id="17" name="ui-evidence-caption-2">
            <a:extLst xmlns:a="http://schemas.openxmlformats.org/drawingml/2006/main">
              <a:ext uri="{FF2B5EF4-FFF2-40B4-BE49-F238E27FC236}">
                <a16:creationId xmlns:a16="http://schemas.microsoft.com/office/drawing/2014/main" id="{E53C4E19-8003-4BC7-8583-B79501F6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95450"/>
            <a:ext cx="5476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04040"/>
                </a:solidFill>
              </a:defRPr>
            </a:pPr>
            <a:r>
              <a:rPr sz="1125" b="1">
                <a:solidFill>
                  <a:srgbClr val="404040"/>
                </a:solidFill>
              </a:rPr>
              <a:t>02  Real GLM answer + canonical facts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dcbe993f94393"/>
          <a:stretch xmlns:a="http://schemas.openxmlformats.org/drawingml/2006/main"/>
        </p:blipFill>
        <p:spPr>
          <a:xfrm xmlns:a="http://schemas.openxmlformats.org/drawingml/2006/main">
            <a:off x="1856914" y="4229100"/>
            <a:ext cx="2563147" cy="1847850"/>
          </a:xfrm>
          <a:prstGeom xmlns:a="http://schemas.openxmlformats.org/drawingml/2006/main" prst="rect">
            <a:avLst/>
          </a:prstGeom>
        </p:spPr>
      </p:pic>
      <p:sp>
        <p:nvSpPr>
          <p:cNvPr id="19" name="ui-evidence-caption-3">
            <a:extLst xmlns:a="http://schemas.openxmlformats.org/drawingml/2006/main">
              <a:ext uri="{FF2B5EF4-FFF2-40B4-BE49-F238E27FC236}">
                <a16:creationId xmlns:a16="http://schemas.microsoft.com/office/drawing/2014/main" id="{0B660FF5-9181-4441-AD59-804C4A84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0"/>
            <a:ext cx="5476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04040"/>
                </a:solidFill>
              </a:defRPr>
            </a:pPr>
            <a:r>
              <a:rPr sz="1125" b="1">
                <a:solidFill>
                  <a:srgbClr val="404040"/>
                </a:solidFill>
              </a:rPr>
              <a:t>03  Host lineage + safe Source 1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9df74d8584b04"/>
          <a:srcRect xmlns:a="http://schemas.openxmlformats.org/drawingml/2006/main" l="758" t="0" r="7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5075" y="4229100"/>
            <a:ext cx="5476875" cy="1847850"/>
          </a:xfrm>
          <a:prstGeom xmlns:a="http://schemas.openxmlformats.org/drawingml/2006/main" prst="rect">
            <a:avLst/>
          </a:prstGeom>
        </p:spPr>
      </p:pic>
      <p:sp>
        <p:nvSpPr>
          <p:cNvPr id="21" name="ui-evidence-caption-4">
            <a:extLst xmlns:a="http://schemas.openxmlformats.org/drawingml/2006/main">
              <a:ext uri="{FF2B5EF4-FFF2-40B4-BE49-F238E27FC236}">
                <a16:creationId xmlns:a16="http://schemas.microsoft.com/office/drawing/2014/main" id="{E062B3A5-AC35-4366-9F1B-7E933920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000500"/>
            <a:ext cx="5476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404040"/>
                </a:solidFill>
              </a:defRPr>
            </a:pPr>
            <a:r>
              <a:rPr sz="1125" b="1">
                <a:solidFill>
                  <a:srgbClr val="404040"/>
                </a:solidFill>
              </a:rPr>
              <a:t>04  Safe unavailable — no invented vacancy KPI</a:t>
            </a:r>
          </a:p>
        </p:txBody>
      </p:sp>
    </p:spTree>
    <p:extLst>
      <p:ext uri="{BB962C8B-B14F-4D97-AF65-F5344CB8AC3E}">
        <p14:creationId xmlns:p14="http://schemas.microsoft.com/office/powerpoint/2010/main" val="17048144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E1A84-D448-4E7A-A2C6-4CE20242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Dashboard 把 Bank Rate 與 coverage 狀態放在同一頁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3B344-5999-46A7-B8AC-9B5D1E94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DA74A-3379-4419-8E98-CEF17315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4857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實際 browser 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7E1CA-3A71-4D77-8F3D-CEF0441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404040"/>
                </a:solidFill>
              </a:defRPr>
            </a:pPr>
            <a:r>
              <a:rPr sz="2175" b="0">
                <a:solidFill>
                  <a:srgbClr val="404040"/>
                </a:solidFill>
              </a:rPr>
              <a:t>同源 session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404040"/>
                </a:solidFill>
              </a:defRPr>
            </a:pPr>
            <a:r>
              <a:rPr sz="2175" b="0">
                <a:solidFill>
                  <a:srgbClr val="404040"/>
                </a:solidFill>
              </a:rPr>
              <a:t>受控 overview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404040"/>
                </a:solidFill>
              </a:defRPr>
            </a:pPr>
            <a:r>
              <a:rPr sz="2175" b="0">
                <a:solidFill>
                  <a:srgbClr val="404040"/>
                </a:solidFill>
              </a:rPr>
              <a:t>4 個 London cards 均為 unavailable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9A5AA-680F-4F1D-A062-CCC487E4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438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51AE2-DE80-4A4A-8B05-E73DD62F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5.25% 是 temporary fixture，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404040"/>
                </a:solidFill>
              </a:defRPr>
            </a:pPr>
            <a:r>
              <a:rPr sz="1875" b="0">
                <a:solidFill>
                  <a:srgbClr val="404040"/>
                </a:solidFill>
              </a:rPr>
              <a:t>不是即時市場數值。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CAA09B-994A-4DE1-BE6C-D13622E8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62125"/>
            <a:ext cx="59055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6c197282374d72"/>
          <a:srcRect xmlns:a="http://schemas.openxmlformats.org/drawingml/2006/main" l="0" t="31741" r="0" b="317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762125"/>
            <a:ext cx="5905500" cy="2857500"/>
          </a:xfrm>
          <a:prstGeom xmlns:a="http://schemas.openxmlformats.org/drawingml/2006/main" prst="roundRect">
            <a:avLst>
              <a:gd name="adj" fmla="val 5333"/>
            </a:avLst>
          </a:prstGeom>
        </p:spPr>
      </p:pic>
    </p:spTree>
    <p:extLst>
      <p:ext uri="{BB962C8B-B14F-4D97-AF65-F5344CB8AC3E}">
        <p14:creationId xmlns:p14="http://schemas.microsoft.com/office/powerpoint/2010/main" val="16909110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6103C-D2B3-46A9-852C-57993787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382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未來發展：從單一可信訊號走向多意圖研究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74BC3-18B1-48A3-B92A-194DCA6C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404040"/>
                </a:solidFill>
              </a:defRPr>
            </a:pPr>
            <a:r>
              <a:rPr sz="1050" b="0">
                <a:solidFill>
                  <a:srgbClr val="404040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8FC093-D641-4F3E-9891-A77550A6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5334000" cy="32385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擴充原則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不把搜尋結果直接當作市場事實。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每個新 intent 先定義：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approved 資料範圍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ad-hoc evidence / canonical data 分離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evidence / freshness contract</a:t>
            </a:r>
          </a:p>
          <a:p xmlns:a="http://schemas.openxmlformats.org/drawingml/2006/main">
            <a:pPr>
              <a:buNone/>
              <a:defRPr sz="1500">
                <a:solidFill>
                  <a:srgbClr val="40404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• host 可授權的工具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35A026-D7F8-46AE-B67B-C23ADF03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4EE4F-FD12-4131-B73E-8C7B9E5B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43125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01  有來源的 news RAG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approved / licensed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62F3D-63CA-4DB3-8A28-AC9735B0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48025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B1BF2-8A84-43EA-8D4B-5ACBECBB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BBB2D-9160-48E2-A35C-99F11AA7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8137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04040"/>
                </a:solidFill>
              </a:defRPr>
            </a:pPr>
            <a:r>
              <a:rPr sz="1500" b="0">
                <a:solidFill>
                  <a:srgbClr val="404040"/>
                </a:solidFill>
              </a:rPr>
              <a:t>Intent routing：data query / refresh /
news research / unavailable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5B4890-4916-4B86-A5E1-338DF0B6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48150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CD00B-DDE8-46B6-B107-D22D8582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815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74FEEF-0C4F-4753-A9A9-2211AF0F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815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04040"/>
                </a:solidFill>
              </a:defRPr>
            </a:pPr>
            <a:r>
              <a:rPr sz="1500" b="0">
                <a:solidFill>
                  <a:srgbClr val="404040"/>
                </a:solidFill>
              </a:rPr>
              <a:t>Office source coverage + freshness monitoring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21F74-5F2E-4E0F-960B-A40404CC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DD20BC-335B-48A6-983D-C1694749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721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FFA91-C453-4F19-88C8-B5E9B9A3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7212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04040"/>
                </a:solidFill>
              </a:defRPr>
            </a:pPr>
            <a:r>
              <a:rPr sz="1500" b="0">
                <a:solidFill>
                  <a:srgbClr val="404040"/>
                </a:solidFill>
              </a:rPr>
              <a:t>Production auth / tenancy（後續）
安全擴展 host capability</a:t>
            </a:r>
          </a:p>
        </p:txBody>
      </p:sp>
    </p:spTree>
    <p:extLst>
      <p:ext uri="{BB962C8B-B14F-4D97-AF65-F5344CB8AC3E}">
        <p14:creationId xmlns:p14="http://schemas.microsoft.com/office/powerpoint/2010/main" val="1472791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2026-08-03T01:42:16.5690000Z</dcterms:created>
  <dcterms:modified xsi:type="dcterms:W3CDTF">2026-08-03T01:42:16.5690000Z</dcterms:modified>
</coreProperties>
</file>