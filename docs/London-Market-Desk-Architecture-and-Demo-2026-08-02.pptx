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f8e495033545f3" /><Relationship Type="http://schemas.openxmlformats.org/officeDocument/2006/relationships/extended-properties" Target="/docProps/app.xml" Id="R82f39555be3d493b" /><Relationship Type="http://schemas.openxmlformats.org/officeDocument/2006/relationships/officeDocument" Target="/ppt/presentation.xml" Id="R588accd9502548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dde098ffc94afc"/>
  </p:sldMasterIdLst>
  <p:notesMasterIdLst>
    <p:notesMasterId xmlns:r="http://schemas.openxmlformats.org/officeDocument/2006/relationships" r:id="R78182f0f0b514020"/>
  </p:notesMasterIdLst>
  <p:sldIdLst>
    <p:sldId xmlns:r="http://schemas.openxmlformats.org/officeDocument/2006/relationships" id="256" r:id="R93adae1eb803462e"/>
    <p:sldId xmlns:r="http://schemas.openxmlformats.org/officeDocument/2006/relationships" id="257" r:id="Rba3c77ec2b374b38"/>
    <p:sldId xmlns:r="http://schemas.openxmlformats.org/officeDocument/2006/relationships" id="258" r:id="R5e72c8d7397943ef"/>
    <p:sldId xmlns:r="http://schemas.openxmlformats.org/officeDocument/2006/relationships" id="259" r:id="R7e6957868f6d487d"/>
    <p:sldId xmlns:r="http://schemas.openxmlformats.org/officeDocument/2006/relationships" id="260" r:id="R72b6dfa117d9468e"/>
    <p:sldId xmlns:r="http://schemas.openxmlformats.org/officeDocument/2006/relationships" id="261" r:id="R4b08025d34a149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65522c7c824673" /><Relationship Type="http://schemas.openxmlformats.org/officeDocument/2006/relationships/slideMaster" Target="/ppt/slideMasters/slideMaster1.xml" Id="Re2dde098ffc94afc" /><Relationship Type="http://schemas.openxmlformats.org/officeDocument/2006/relationships/notesMaster" Target="/ppt/notesMasters/notesMaster1.xml" Id="R78182f0f0b514020" /><Relationship Type="http://schemas.openxmlformats.org/officeDocument/2006/relationships/presProps" Target="/ppt/presProps.xml" Id="R3a2e5a0bf5a94430" /><Relationship Type="http://schemas.openxmlformats.org/officeDocument/2006/relationships/tableStyles" Target="/ppt/tableStyles.xml" Id="Rbf9ff1535fb74beb" /><Relationship Type="http://schemas.openxmlformats.org/officeDocument/2006/relationships/slide" Target="/ppt/slides/slide1.xml" Id="R93adae1eb803462e" /><Relationship Type="http://schemas.openxmlformats.org/officeDocument/2006/relationships/slide" Target="/ppt/slides/slide2.xml" Id="Rba3c77ec2b374b38" /><Relationship Type="http://schemas.openxmlformats.org/officeDocument/2006/relationships/slide" Target="/ppt/slides/slide3.xml" Id="R5e72c8d7397943ef" /><Relationship Type="http://schemas.openxmlformats.org/officeDocument/2006/relationships/slide" Target="/ppt/slides/slide4.xml" Id="R7e6957868f6d487d" /><Relationship Type="http://schemas.openxmlformats.org/officeDocument/2006/relationships/slide" Target="/ppt/slides/slide5.xml" Id="R72b6dfa117d9468e" /><Relationship Type="http://schemas.openxmlformats.org/officeDocument/2006/relationships/slide" Target="/ppt/slides/slide6.xml" Id="R4b08025d34a149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f4c055c6f944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50036b05f643bb" /><Relationship Type="http://schemas.openxmlformats.org/officeDocument/2006/relationships/notesMaster" Target="/ppt/notesMasters/notesMaster1.xml" Id="Ra60143d8a0924f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e6864854b44327" /><Relationship Type="http://schemas.openxmlformats.org/officeDocument/2006/relationships/notesMaster" Target="/ppt/notesMasters/notesMaster1.xml" Id="Rdaa7b799c06d43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4d9d079f184fa6" /><Relationship Type="http://schemas.openxmlformats.org/officeDocument/2006/relationships/notesMaster" Target="/ppt/notesMasters/notesMaster1.xml" Id="Re09ef1eb6c6842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53e163442f4710" /><Relationship Type="http://schemas.openxmlformats.org/officeDocument/2006/relationships/notesMaster" Target="/ppt/notesMasters/notesMaster1.xml" Id="R075f9d419a6042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f0d7a748464d9a" /><Relationship Type="http://schemas.openxmlformats.org/officeDocument/2006/relationships/notesMaster" Target="/ppt/notesMasters/notesMaster1.xml" Id="R854bc99063f74f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544bcf60264420" /><Relationship Type="http://schemas.openxmlformats.org/officeDocument/2006/relationships/notesMaster" Target="/ppt/notesMasters/notesMaster1.xml" Id="R75af1f0492de47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開場：這是可驗證的市場研究 PoC，而不是泛用聊天機器人。今天的正式 numeric launch scope 只有 UK Bank Rate。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wiki/research/chatbot-dashboard-decision.md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重點是 authority boundary：模型只透過 typed Facade 讀取 canonical data；沒有 SQL、shell、filesystem、collector 或 raw evidence tool。Linux Docker 僅服務讀取 runtime，ingestion 留在 macOS host。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docs/first-use-and-data-pipeline.md</a:t>
            </a:r>
          </a:p>
          <a:p xmlns:a="http://schemas.openxmlformats.org/drawingml/2006/main">
            <a:r>
              <a:t>- wiki/questions/Test_result/TC-01-runtime-live-test-2026-08-02.md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不要把工程 workflow 或 discovery data 說成產品 coverage。TC-01 對 Prime office rent 的正確行為是 unavailable，不是生成租金 KPI。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wiki/research/datasource/01-office-rent.md through 13-submarket-geography.md (13 category/source mappings)</a:t>
            </a:r>
          </a:p>
          <a:p xmlns:a="http://schemas.openxmlformats.org/drawingml/2006/main">
            <a:r>
              <a:t>- src/nan_fung/datasources/catalog.py (operational, blocked, manual_review and legacy_adapter states)</a:t>
            </a:r>
          </a:p>
          <a:p xmlns:a="http://schemas.openxmlformats.org/drawingml/2006/main">
            <a:r>
              <a:t>- docs/datasource-acceptance.md (product-coverage gates and TC-01 reason)</a:t>
            </a:r>
          </a:p>
          <a:p xmlns:a="http://schemas.openxmlformats.org/drawingml/2006/main">
            <a:r>
              <a:t>- agent-runtime/README.md; agent-runtime/src/server.ts; agent-runtime/skills.manifest.json (Bank Rate-only production allowlist and preloaded skills)</a:t>
            </a:r>
          </a:p>
          <a:p xmlns:a="http://schemas.openxmlformats.org/drawingml/2006/main">
            <a:r>
              <a:t>- skills/*/SKILL.md (research runbooks shown in the Tool / Skill column)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流程圖解說：1) 使用者問題建立 session scope；2) host 驗證並預載 Skills，將 Pi turn 限制為 45 秒；3) Pi 只可選用五個 typed data tools；4) Python Facade 套用 scoped handle、budget 和 read-only canonical boundary；5) query/citation 結果寫入 host-owned ledger；6) runtime-only finalizer 核對 claim/citation，產生 market_brief.v1；7) SSE 僅輸出已驗證的 final artifact。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agent-runtime/README.md (controlled tool surface and market_brief.v1 contract)</a:t>
            </a:r>
          </a:p>
          <a:p xmlns:a="http://schemas.openxmlformats.org/drawingml/2006/main">
            <a:r>
              <a:t>- agent-runtime/src/runtime.ts (45-second turn deadline)</a:t>
            </a:r>
          </a:p>
          <a:p xmlns:a="http://schemas.openxmlformats.org/drawingml/2006/main">
            <a:r>
              <a:t>- agent-runtime/src/turn-runner.ts (prompt deadline and Pi session abort)</a:t>
            </a:r>
          </a:p>
          <a:p xmlns:a="http://schemas.openxmlformats.org/drawingml/2006/main">
            <a:r>
              <a:t>- wiki/architecture/agent-runtime.md (skills, Facade, finalizer, citation ledger and SSE boundary)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這是實際 browser screenshot。可見 Bank Rate fixture、資料來源與 4 個 unavailable market coverage cards。5.25 percent 是隔離 fixture，只用於 UI to Facade to SQLite chain 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wiki/questions/Test_result/TC-01-dashboard-ui-test-2026-08-02.md</a:t>
            </a:r>
          </a:p>
          <a:p xmlns:a="http://schemas.openxmlformats.org/drawingml/2006/main">
            <a:r>
              <a:t>- wiki/questions/Test_result/screenshots/dashboard-overview-bank-rate.png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本頁全是提案中的後續能力，不是目前已交付 scope。news RAG 只應檢索 approved/licensed corpus，並把 ad-hoc evidence 和 canonical market facts 分開；intent routing 先把使用者要求送往資料查詢、refresh、新聞研究或 unavailable；任何新 office source 都要先經 evidence、freshness 和 promotion gate。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wiki/architecture/agent-runtime.md (v1 excludes non-canonical ad-hoc results; production auth and tenant policy are deferred)</a:t>
            </a:r>
          </a:p>
          <a:p xmlns:a="http://schemas.openxmlformats.org/drawingml/2006/main">
            <a:r>
              <a:t>- docs/datasource-acceptance.md (datasource workflow and promotion coverage context)</a:t>
            </a:r>
          </a:p>
          <a:p xmlns:a="http://schemas.openxmlformats.org/drawingml/2006/main">
            <a:r>
              <a:t>- wiki/research/chatbot-dashboard-decision.md (chatbot/dashboard capability direction)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ffc32b07f34a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ea255dae9d492c" /><Relationship Type="http://schemas.openxmlformats.org/officeDocument/2006/relationships/slideLayout" Target="/ppt/slideLayouts/slideLayout1.xml" Id="Rf9c2e7345c2d4c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c2e7345c2d4c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c5d58957334ec9" /><Relationship Type="http://schemas.openxmlformats.org/officeDocument/2006/relationships/notesSlide" Target="/ppt/notesSlides/notesSlide1.xml" Id="Rdcffe257e7ae4e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28581e60c4a8b" /><Relationship Type="http://schemas.openxmlformats.org/officeDocument/2006/relationships/notesSlide" Target="/ppt/notesSlides/notesSlide2.xml" Id="R039f8953110543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d68e1978844a1" /><Relationship Type="http://schemas.openxmlformats.org/officeDocument/2006/relationships/notesSlide" Target="/ppt/notesSlides/notesSlide3.xml" Id="Rf32cfb0a488d4d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923735f61494a" /><Relationship Type="http://schemas.openxmlformats.org/officeDocument/2006/relationships/notesSlide" Target="/ppt/notesSlides/notesSlide4.xml" Id="R20338a5bb1a648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50c9dd58b40c4" /><Relationship Type="http://schemas.openxmlformats.org/officeDocument/2006/relationships/image" Target="/ppt/media/image.png" Id="Rf7e8ddf0e8e94187" /><Relationship Type="http://schemas.openxmlformats.org/officeDocument/2006/relationships/notesSlide" Target="/ppt/notesSlides/notesSlide5.xml" Id="R78452b9a35b34a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88d9327374765" /><Relationship Type="http://schemas.openxmlformats.org/officeDocument/2006/relationships/notesSlide" Target="/ppt/notesSlides/notesSlide6.xml" Id="R2c58384e83054c4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7C2B3-6E9D-46F5-9B0E-4F9CFD6B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04040"/>
                </a:solidFill>
              </a:defRPr>
            </a:pPr>
            <a:r>
              <a:rPr sz="1500" b="1">
                <a:solidFill>
                  <a:srgbClr val="404040"/>
                </a:solidFill>
              </a:rPr>
              <a:t>PRODUCT DEMO · 2026.08.02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89E2B5-48A4-4B30-856A-404E500A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8096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000000"/>
                </a:solidFill>
              </a:defRPr>
            </a:pPr>
            <a:r>
              <a:rPr sz="6150" b="1">
                <a:solidFill>
                  <a:srgbClr val="000000"/>
                </a:solidFill>
              </a:rPr>
              <a:t>London Market</a:t>
            </a:r>
          </a:p>
          <a:p xmlns:a="http://schemas.openxmlformats.org/drawingml/2006/main">
            <a:pPr algn="l">
              <a:buNone/>
              <a:defRPr sz="6150" b="1">
                <a:solidFill>
                  <a:srgbClr val="000000"/>
                </a:solidFill>
              </a:defRPr>
            </a:pPr>
            <a:r>
              <a:rPr sz="6150" b="1">
                <a:solidFill>
                  <a:srgbClr val="000000"/>
                </a:solidFill>
              </a:rPr>
              <a:t>Desk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2D3D0-C7F6-4D7B-B5CD-32AFB67F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8191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404040"/>
                </a:solidFill>
              </a:defRPr>
            </a:pPr>
            <a:r>
              <a:rPr sz="2250" b="0">
                <a:solidFill>
                  <a:srgbClr val="404040"/>
                </a:solidFill>
              </a:rPr>
              <a:t>Evidence-first agent for London office research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404040"/>
                </a:solidFill>
              </a:defRPr>
            </a:pPr>
            <a:r>
              <a:rPr sz="2250" b="0">
                <a:solidFill>
                  <a:srgbClr val="404040"/>
                </a:solidFill>
              </a:rPr>
              <a:t>正式數值 coverage：UK Bank Rate</a:t>
            </a:r>
          </a:p>
        </p:txBody>
      </p:sp>
    </p:spTree>
    <p:extLst>
      <p:ext uri="{BB962C8B-B14F-4D97-AF65-F5344CB8AC3E}">
        <p14:creationId xmlns:p14="http://schemas.microsoft.com/office/powerpoint/2010/main" val="8568571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23F02-1685-467F-B751-1F1D1DE5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對話只能走受控的路徑，不能直接碰資料庫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F1D871-BCAF-47E6-93CC-6730A2BC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AB53D8-505F-4B7C-9DCF-52779618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138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61BFB5-6280-429E-B2D3-040F4F6A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670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793726-13B2-4750-BDD6-EEC94EB5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01  Browser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E0073-83D1-4497-8150-0C214B66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同源 Dashboard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Bearer session + SSE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只顯示 host-finalized brief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7FCFC-F3F8-4A12-B43C-104F7D76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670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C9E08-4147-439C-B5A0-0CF27499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241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02  Agent runtime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251558-9771-4D9D-8B8E-4B9DF539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62375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Pi AgentSession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6 個受控 tools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日期未指定 → latest canonical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68CB8C-0320-4223-AA0B-138A0215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670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973226-2D92-4FA6-B775-C0715598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241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03  Trusted data plane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1FD9B-89CF-4729-B213-95F41401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62375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Facade → SQLite + evidence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read-only model surface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macOS host 執行 ingestion</a:t>
            </a:r>
          </a:p>
        </p:txBody>
      </p:sp>
    </p:spTree>
    <p:extLst>
      <p:ext uri="{BB962C8B-B14F-4D97-AF65-F5344CB8AC3E}">
        <p14:creationId xmlns:p14="http://schemas.microsoft.com/office/powerpoint/2010/main" val="14432375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26F6D0-42CF-4750-A515-1792EB78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13 種資料來源的 Tool、Skill 與 Availability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B113C-D0B9-420A-ABA4-5F747454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EA525-7332-4C5B-B819-757C2666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404040"/>
                </a:solidFill>
              </a:defRPr>
            </a:pPr>
            <a:r>
              <a:rPr sz="1800" b="0">
                <a:solidFill>
                  <a:srgbClr val="404040"/>
                </a:solidFill>
              </a:rPr>
              <a:t>中欄是 data-plane function / research Skill；只有 Bank Rate 已在 production Pi runtime 開放。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400050" y="1952625"/>
          <a:ext xmlns:a="http://schemas.openxmlformats.org/drawingml/2006/main" cx="11382375" cy="42672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43150"/>
                <a:gridCol w="3857625"/>
                <a:gridCol w="5181600"/>
              </a:tblGrid>
              <a:tr h="3048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Data source (13)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Tool / Skill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Availability / why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01 Office rent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BNP report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fetch_public_market_report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collect-office-market-metrics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manual review / restricted retention; no City Prime canonical series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02 Stock / availability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VOA + BNP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fetch_voa_office_stock + report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collect-office-market-metrics · track-office-supply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7A3D00"/>
                          </a:solidFill>
                          <a:latin typeface="Calibri"/>
                          <a:ea typeface="Calibri"/>
                          <a:cs typeface="Calibri"/>
                        </a:rPr>
                        <a:t>Partial · VOA stock operational; BNP vacancy / availability remains manual review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03 Leasing transactions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BNP report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fetch_public_market_report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collect-office-market-metrics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report-derived evidence only; no canonical transaction series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04 Supply pipeline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PLD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search_planning_applications + fetch_planning_application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track-office-supply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PLD licence + retention approval pending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05 Rates / MPC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Bank of England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describe → query → citation → finalizer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track-uk-macro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Available · Bank Rate only; MPC RSS discovery-only / content approval pending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06 GDP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 v1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fetch_uk_gdp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track-uk-macro (not runtime-exposed)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07 Inflation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 v1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fetch_uk_inflation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track-uk-macro (not runtime-exposed)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08 Employment market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 + Nomis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fetch_uk_labour_market + fetch_london_labour_market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track-uk-macro (not runtime-exposed)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09 Office demand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Rightmove tracker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No scraper; browser review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assess-office-demand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manual reading only; enquiry signal is a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10 Hybrid working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 OPN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fetch_hybrid_working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assess-office-demand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proxy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11 ESG / energy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MHCLG EPC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fetch_non_domestic_epc_ratings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check-office-esg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proxy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12 Market news / events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GOV.UK + MPC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search_market_news + fetch_content_item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monitor-market-news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GOV.UK review/access unapproved; MPC not canonical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13 Submarket geography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ONSPD + GLA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lookup_postcode + query_town_centres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map-london-submarkets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7A3D00"/>
                          </a:solidFill>
                          <a:latin typeface="Calibri"/>
                          <a:ea typeface="Calibri"/>
                          <a:cs typeface="Calibri"/>
                        </a:rPr>
                        <a:t>Partial · ONSPD is retention-gated/on-demand; GLA approval pending; no broker polygon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90574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7BC6FD-C04F-4382-96CC-0C2ED505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Runtime：由問題到可驗證的 Market Brief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D534D-29C6-4B1F-93EA-CCCAE002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44806-D1C1-49E3-9D11-FEF04FF8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404040"/>
                </a:solidFill>
              </a:defRPr>
            </a:pPr>
            <a:r>
              <a:rPr sz="1800" b="0">
                <a:solidFill>
                  <a:srgbClr val="404040"/>
                </a:solidFill>
              </a:rPr>
              <a:t>Input → Pi + Skills → typed tool loop → canonical data / citations → host finalizer → Market Brief / SSE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1E754-35D0-4B6C-A1B9-720962A1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05125"/>
            <a:ext cx="356235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24E07C-B48F-46BD-ACF7-31C7E6F4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990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01  Input → 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0DB578-DE25-4404-8001-DC665C39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990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404040"/>
                </a:solidFill>
              </a:defRPr>
            </a:pPr>
            <a:r>
              <a:rPr sz="1725" b="0">
                <a:solidFill>
                  <a:srgbClr val="404040"/>
                </a:solidFill>
              </a:rPr>
              <a:t>① 問題＋session scope
② host 預載 Skills
③ 45 秒 deadline／cancel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F9A6D7-8A58-4F94-8735-AA69D0F7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05125"/>
            <a:ext cx="356235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62A2A-8141-4E3B-95CB-F8CA12BB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81375"/>
            <a:ext cx="2990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02  Tool loop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F9062-C7CD-4C7A-B1E7-496D7D36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476750"/>
            <a:ext cx="2990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404040"/>
                </a:solidFill>
              </a:defRPr>
            </a:pPr>
            <a:r>
              <a:rPr sz="1725" b="0">
                <a:solidFill>
                  <a:srgbClr val="404040"/>
                </a:solidFill>
              </a:rPr>
              <a:t>④ Pi 選 5 個 typed tools
⑤ Facade 套 scope／budget
⑥ data + citations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961F0-BDD2-445F-BAF0-0A917F00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05125"/>
            <a:ext cx="356235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117B1B-60F0-487F-AA46-D2A982F6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81375"/>
            <a:ext cx="2990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03  Verify → brief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F804D0-86BC-48D1-A03E-DB6E07D8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76750"/>
            <a:ext cx="2990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404040"/>
                </a:solidFill>
              </a:defRPr>
            </a:pPr>
            <a:r>
              <a:rPr sz="1725" b="0">
                <a:solidFill>
                  <a:srgbClr val="404040"/>
                </a:solidFill>
              </a:rPr>
              <a:t>⑦ 核對 citation refs
⑧ finalizer → brief v1
⑨ SSE 只送 final artifact</a:t>
            </a:r>
          </a:p>
        </p:txBody>
      </p: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962400" y="4333875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082"/>
            </a:solidFill>
            <a:prstDash val="solid"/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877175" y="4333875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082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170481445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E1A84-D448-4E7A-A2C6-4CE20242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Dashboard 把 Bank Rate 與 coverage 狀態放在同一頁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3B344-5999-46A7-B8AC-9B5D1E94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DA74A-3379-4419-8E98-CEF17315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實際 browser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27E1CA-3A71-4D77-8F3D-CEF0441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404040"/>
                </a:solidFill>
              </a:defRPr>
            </a:pPr>
            <a:r>
              <a:rPr sz="2175" b="0">
                <a:solidFill>
                  <a:srgbClr val="404040"/>
                </a:solidFill>
              </a:rPr>
              <a:t>同源 session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404040"/>
                </a:solidFill>
              </a:defRPr>
            </a:pPr>
            <a:r>
              <a:rPr sz="2175" b="0">
                <a:solidFill>
                  <a:srgbClr val="404040"/>
                </a:solidFill>
              </a:rPr>
              <a:t>受控 overview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404040"/>
                </a:solidFill>
              </a:defRPr>
            </a:pPr>
            <a:r>
              <a:rPr sz="2175" b="0">
                <a:solidFill>
                  <a:srgbClr val="404040"/>
                </a:solidFill>
              </a:rPr>
              <a:t>4 個 London cards 均為 unavailable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9A5AA-680F-4F1D-A062-CCC487E4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38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51AE2-DE80-4A4A-8B05-E73DD62F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5.25% 是 temporary fixture，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不是即時市場數值。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CAA09B-994A-4DE1-BE6C-D13622E8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62125"/>
            <a:ext cx="590550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8ddf0e8e94187"/>
          <a:srcRect xmlns:a="http://schemas.openxmlformats.org/drawingml/2006/main" l="0" t="31741" r="0" b="317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762125"/>
            <a:ext cx="5905500" cy="2857500"/>
          </a:xfrm>
          <a:prstGeom xmlns:a="http://schemas.openxmlformats.org/drawingml/2006/main" prst="roundRect">
            <a:avLst>
              <a:gd name="adj" fmla="val 5333"/>
            </a:avLst>
          </a:prstGeom>
        </p:spPr>
      </p:pic>
    </p:spTree>
    <p:extLst>
      <p:ext uri="{BB962C8B-B14F-4D97-AF65-F5344CB8AC3E}">
        <p14:creationId xmlns:p14="http://schemas.microsoft.com/office/powerpoint/2010/main" val="16909110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36103C-D2B3-46A9-852C-57993787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未來發展：從單一可信訊號走向多意圖研究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74BC3-18B1-48A3-B92A-194DCA6C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FC093-D641-4F3E-9891-A77550A6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5334000" cy="3238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擴充原則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不把搜尋結果直接當作市場事實。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每個新 intent 先定義：</a:t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• approved 資料範圍</a:t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• ad-hoc evidence / canonical data 分離</a:t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• evidence / freshness contract</a:t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• host 可授權的工具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35A026-D7F8-46AE-B67B-C23ADF03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526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Roadmap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4EE4F-FD12-4131-B73E-8C7B9E5B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43125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01  有來源的 news RAG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approved / licensed corpus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62F3D-63CA-4DB3-8A28-AC9735B0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48025"/>
            <a:ext cx="504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FB1BF2-8A84-43EA-8D4B-5ACBECBB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BBB2D-9160-48E2-A35C-99F11AA7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8137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04040"/>
                </a:solidFill>
              </a:defRPr>
            </a:pPr>
            <a:r>
              <a:rPr sz="1500" b="0">
                <a:solidFill>
                  <a:srgbClr val="404040"/>
                </a:solidFill>
              </a:rPr>
              <a:t>Intent routing：data query / refresh /
news research / unavailable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B4890-4916-4B86-A5E1-338DF0B6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48150"/>
            <a:ext cx="504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CD00B-DDE8-46B6-B107-D22D8582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815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74FEEF-0C4F-4753-A9A9-2211AF0F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815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04040"/>
                </a:solidFill>
              </a:defRPr>
            </a:pPr>
            <a:r>
              <a:rPr sz="1500" b="0">
                <a:solidFill>
                  <a:srgbClr val="404040"/>
                </a:solidFill>
              </a:rPr>
              <a:t>Office source coverage + freshness monitoring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21F74-5F2E-4E0F-960B-A40404CC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504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DD20BC-335B-48A6-983D-C1694749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72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FFFA91-C453-4F19-88C8-B5E9B9A3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7212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04040"/>
                </a:solidFill>
              </a:defRPr>
            </a:pPr>
            <a:r>
              <a:rPr sz="1500" b="0">
                <a:solidFill>
                  <a:srgbClr val="404040"/>
                </a:solidFill>
              </a:rPr>
              <a:t>Production auth / tenancy（後續）
安全擴展 host capability</a:t>
            </a:r>
          </a:p>
        </p:txBody>
      </p:sp>
    </p:spTree>
    <p:extLst>
      <p:ext uri="{BB962C8B-B14F-4D97-AF65-F5344CB8AC3E}">
        <p14:creationId xmlns:p14="http://schemas.microsoft.com/office/powerpoint/2010/main" val="1472791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2026-08-02T15:43:41.5250000Z</dcterms:created>
  <dcterms:modified xsi:type="dcterms:W3CDTF">2026-08-02T15:43:41.5250000Z</dcterms:modified>
</coreProperties>
</file>